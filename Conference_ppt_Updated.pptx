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Light" charset="1" panose="00000400000000000000"/>
      <p:regular r:id="rId16"/>
    </p:embeddedFont>
    <p:embeddedFont>
      <p:font typeface="Poppins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525" y="558919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83884" y="1028700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3822" y="971475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27451" y="4094602"/>
            <a:ext cx="8518532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FFF9EC"/>
                </a:solidFill>
                <a:latin typeface="Poppins"/>
                <a:ea typeface="Poppins"/>
                <a:cs typeface="Poppins"/>
                <a:sym typeface="Poppins"/>
              </a:rPr>
              <a:t>Cystic Kidney Prediction Using Medical Imaging Technique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1676" y="618882"/>
            <a:ext cx="16900582" cy="8639418"/>
            <a:chOff x="0" y="0"/>
            <a:chExt cx="4451182" cy="22754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51182" cy="2275402"/>
            </a:xfrm>
            <a:custGeom>
              <a:avLst/>
              <a:gdLst/>
              <a:ahLst/>
              <a:cxnLst/>
              <a:rect r="r" b="b" t="t" l="l"/>
              <a:pathLst>
                <a:path h="2275402" w="4451182">
                  <a:moveTo>
                    <a:pt x="23362" y="0"/>
                  </a:moveTo>
                  <a:lnTo>
                    <a:pt x="4427820" y="0"/>
                  </a:lnTo>
                  <a:cubicBezTo>
                    <a:pt x="4440722" y="0"/>
                    <a:pt x="4451182" y="10460"/>
                    <a:pt x="4451182" y="23362"/>
                  </a:cubicBezTo>
                  <a:lnTo>
                    <a:pt x="4451182" y="2252040"/>
                  </a:lnTo>
                  <a:cubicBezTo>
                    <a:pt x="4451182" y="2264943"/>
                    <a:pt x="4440722" y="2275402"/>
                    <a:pt x="4427820" y="2275402"/>
                  </a:cubicBezTo>
                  <a:lnTo>
                    <a:pt x="23362" y="2275402"/>
                  </a:lnTo>
                  <a:cubicBezTo>
                    <a:pt x="10460" y="2275402"/>
                    <a:pt x="0" y="2264943"/>
                    <a:pt x="0" y="2252040"/>
                  </a:cubicBezTo>
                  <a:lnTo>
                    <a:pt x="0" y="23362"/>
                  </a:lnTo>
                  <a:cubicBezTo>
                    <a:pt x="0" y="10460"/>
                    <a:pt x="10460" y="0"/>
                    <a:pt x="23362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51182" cy="2342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46417" y="4794497"/>
            <a:ext cx="7730255" cy="457088"/>
            <a:chOff x="0" y="0"/>
            <a:chExt cx="10307006" cy="60945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94219"/>
              <a:ext cx="421014" cy="421014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93869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795109" y="-28575"/>
              <a:ext cx="9511897" cy="638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1. Introduction &amp;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46417" y="5784771"/>
            <a:ext cx="7730255" cy="457088"/>
            <a:chOff x="0" y="0"/>
            <a:chExt cx="10307006" cy="60945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94219"/>
              <a:ext cx="421014" cy="421014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93869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795109" y="-28575"/>
              <a:ext cx="9511897" cy="638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2. Literature Survey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6417" y="6775046"/>
            <a:ext cx="7730255" cy="457088"/>
            <a:chOff x="0" y="0"/>
            <a:chExt cx="10307006" cy="60945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94219"/>
              <a:ext cx="421014" cy="421014"/>
              <a:chOff x="0" y="0"/>
              <a:chExt cx="6350000" cy="6350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93869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795109" y="-28575"/>
              <a:ext cx="9511897" cy="638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3. System Architecture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46417" y="7765321"/>
            <a:ext cx="7730255" cy="457088"/>
            <a:chOff x="0" y="0"/>
            <a:chExt cx="10307006" cy="60945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94219"/>
              <a:ext cx="421014" cy="421014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93869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795109" y="-28575"/>
              <a:ext cx="9511897" cy="638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4. Conclusion &amp; Future Scope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183884" y="1028700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77296" y="2360828"/>
            <a:ext cx="6962373" cy="21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FFF9E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14" y="622616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942837" y="4903213"/>
            <a:ext cx="15429984" cy="113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7000">
                <a:solidFill>
                  <a:srgbClr val="FFF9E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Introduction &amp; Problem Statement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83884" y="1028700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525" y="558919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9421" y="809973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14" y="622616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8262" y="3134441"/>
            <a:ext cx="5954124" cy="4018118"/>
            <a:chOff x="0" y="0"/>
            <a:chExt cx="7938832" cy="53574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63554"/>
              <a:ext cx="7938832" cy="1479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b="true" sz="6999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Automated Prediction System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370374"/>
              <a:ext cx="7938832" cy="198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Using deep learning (CNN) to classify kidney conditions: Normal, Cyst, Tumor, and Stone with high accuracy to reduce manual diagnostic errors.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0"/>
              <a:ext cx="7938832" cy="1110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Our Objectives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183884" y="842019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525" y="558919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39421" y="809973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714" y="622616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15336" y="2331175"/>
            <a:ext cx="6438383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7000">
                <a:solidFill>
                  <a:srgbClr val="FFF9E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Survey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52544" y="7090081"/>
            <a:ext cx="4223630" cy="1481122"/>
            <a:chOff x="0" y="0"/>
            <a:chExt cx="5631507" cy="197482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51891"/>
              <a:ext cx="5631507" cy="1122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CNN models automatically extract relevant features, significantly improving detection accuracy and speed compared to traditional manual examination.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5631507" cy="66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Kidney Disease Detection using CNNs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35670" y="7090081"/>
            <a:ext cx="4223630" cy="1481122"/>
            <a:chOff x="0" y="0"/>
            <a:chExt cx="5631507" cy="197482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51891"/>
              <a:ext cx="5631507" cy="11229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Deep learning models overcome low contrast and overlapping tissues, robustly identifying early-stage tumors and small stones without handcrafted features.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5631507" cy="666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Tumor &amp; Stone Detection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183884" y="1028700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3525" y="558919"/>
            <a:ext cx="16860572" cy="9041768"/>
            <a:chOff x="0" y="0"/>
            <a:chExt cx="4440644" cy="2381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0644" cy="2381371"/>
            </a:xfrm>
            <a:custGeom>
              <a:avLst/>
              <a:gdLst/>
              <a:ahLst/>
              <a:cxnLst/>
              <a:rect r="r" b="b" t="t" l="l"/>
              <a:pathLst>
                <a:path h="2381371" w="4440644">
                  <a:moveTo>
                    <a:pt x="23418" y="0"/>
                  </a:moveTo>
                  <a:lnTo>
                    <a:pt x="4417227" y="0"/>
                  </a:lnTo>
                  <a:cubicBezTo>
                    <a:pt x="4430160" y="0"/>
                    <a:pt x="4440644" y="10485"/>
                    <a:pt x="4440644" y="23418"/>
                  </a:cubicBezTo>
                  <a:lnTo>
                    <a:pt x="4440644" y="2357953"/>
                  </a:lnTo>
                  <a:cubicBezTo>
                    <a:pt x="4440644" y="2370886"/>
                    <a:pt x="4430160" y="2381371"/>
                    <a:pt x="4417227" y="2381371"/>
                  </a:cubicBezTo>
                  <a:lnTo>
                    <a:pt x="23418" y="2381371"/>
                  </a:lnTo>
                  <a:cubicBezTo>
                    <a:pt x="10485" y="2381371"/>
                    <a:pt x="0" y="2370886"/>
                    <a:pt x="0" y="2357953"/>
                  </a:cubicBezTo>
                  <a:lnTo>
                    <a:pt x="0" y="23418"/>
                  </a:lnTo>
                  <a:cubicBezTo>
                    <a:pt x="0" y="10485"/>
                    <a:pt x="10485" y="0"/>
                    <a:pt x="23418" y="0"/>
                  </a:cubicBezTo>
                  <a:close/>
                </a:path>
              </a:pathLst>
            </a:custGeom>
            <a:solidFill>
              <a:srgbClr val="0938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440644" cy="2448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71964" y="3997551"/>
            <a:ext cx="2429727" cy="749752"/>
            <a:chOff x="0" y="0"/>
            <a:chExt cx="3239636" cy="9996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3239636" cy="5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Student 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74319"/>
              <a:ext cx="3239636" cy="42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 Member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1964" y="8389880"/>
            <a:ext cx="2429727" cy="749752"/>
            <a:chOff x="0" y="0"/>
            <a:chExt cx="3239636" cy="9996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3239636" cy="5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Student 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74319"/>
              <a:ext cx="3239636" cy="42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 Member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93040" y="3997551"/>
            <a:ext cx="2429727" cy="749752"/>
            <a:chOff x="0" y="0"/>
            <a:chExt cx="3239636" cy="99967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3239636" cy="5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Student 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74319"/>
              <a:ext cx="3239636" cy="42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 Member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893040" y="8389880"/>
            <a:ext cx="2429727" cy="749752"/>
            <a:chOff x="0" y="0"/>
            <a:chExt cx="3239636" cy="99967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3239636" cy="5064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Student 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574319"/>
              <a:ext cx="3239636" cy="425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FFF9EC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Team Member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3350268"/>
            <a:ext cx="6438383" cy="4513890"/>
            <a:chOff x="0" y="0"/>
            <a:chExt cx="8584511" cy="601851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470740"/>
              <a:ext cx="8584511" cy="1547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50"/>
                </a:lnSpc>
              </a:pPr>
              <a:r>
                <a:rPr lang="en-US" b="true" sz="3500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The team behind the deep learning medical imaging classification system.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8584511" cy="43335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00"/>
                </a:lnSpc>
                <a:spcBef>
                  <a:spcPct val="0"/>
                </a:spcBef>
              </a:pPr>
              <a:r>
                <a:rPr lang="en-US" b="true" sz="7000">
                  <a:solidFill>
                    <a:srgbClr val="FFF9E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Project Team Members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3183884" y="825898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6" y="0"/>
                </a:lnTo>
                <a:lnTo>
                  <a:pt x="4075416" y="2292421"/>
                </a:lnTo>
                <a:lnTo>
                  <a:pt x="0" y="2292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700" y="1028700"/>
            <a:ext cx="2236167" cy="1203436"/>
          </a:xfrm>
          <a:custGeom>
            <a:avLst/>
            <a:gdLst/>
            <a:ahLst/>
            <a:cxnLst/>
            <a:rect r="r" b="b" t="t" l="l"/>
            <a:pathLst>
              <a:path h="1203436" w="2236167">
                <a:moveTo>
                  <a:pt x="0" y="0"/>
                </a:moveTo>
                <a:lnTo>
                  <a:pt x="2236167" y="0"/>
                </a:lnTo>
                <a:lnTo>
                  <a:pt x="2236167" y="1203436"/>
                </a:lnTo>
                <a:lnTo>
                  <a:pt x="0" y="1203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06924" b="-1266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6057" y="427791"/>
            <a:ext cx="4075416" cy="2292422"/>
          </a:xfrm>
          <a:custGeom>
            <a:avLst/>
            <a:gdLst/>
            <a:ahLst/>
            <a:cxnLst/>
            <a:rect r="r" b="b" t="t" l="l"/>
            <a:pathLst>
              <a:path h="2292422" w="4075416">
                <a:moveTo>
                  <a:pt x="0" y="0"/>
                </a:moveTo>
                <a:lnTo>
                  <a:pt x="4075417" y="0"/>
                </a:lnTo>
                <a:lnTo>
                  <a:pt x="4075417" y="2292422"/>
                </a:lnTo>
                <a:lnTo>
                  <a:pt x="0" y="2292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8082" y="556942"/>
            <a:ext cx="2742885" cy="1142869"/>
          </a:xfrm>
          <a:custGeom>
            <a:avLst/>
            <a:gdLst/>
            <a:ahLst/>
            <a:cxnLst/>
            <a:rect r="r" b="b" t="t" l="l"/>
            <a:pathLst>
              <a:path h="1142869" w="2742885">
                <a:moveTo>
                  <a:pt x="0" y="0"/>
                </a:moveTo>
                <a:lnTo>
                  <a:pt x="2742885" y="0"/>
                </a:lnTo>
                <a:lnTo>
                  <a:pt x="2742885" y="1142869"/>
                </a:lnTo>
                <a:lnTo>
                  <a:pt x="0" y="1142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61457" y="3749774"/>
            <a:ext cx="7942323" cy="3052684"/>
            <a:chOff x="0" y="0"/>
            <a:chExt cx="10589764" cy="40702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0"/>
              <a:ext cx="10589764" cy="2330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199"/>
                </a:lnSpc>
              </a:pPr>
              <a:r>
                <a:rPr lang="en-US" sz="10999" b="true">
                  <a:solidFill>
                    <a:srgbClr val="0938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Thank You!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610341"/>
              <a:ext cx="10589764" cy="1459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9386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Any questions regarding our Image Processing and CNN based prediction system?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DAHG_2D9TZc</dc:identifier>
  <dcterms:modified xsi:type="dcterms:W3CDTF">2011-08-01T06:04:30Z</dcterms:modified>
  <cp:revision>1</cp:revision>
  <dc:title>Copy of Purple Blue and Orange Cute Simple Illustrative Doodles Math Lesson Creative Presentation</dc:title>
</cp:coreProperties>
</file>